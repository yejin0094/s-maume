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78" r:id="rId3"/>
    <p:sldId id="315" r:id="rId4"/>
    <p:sldId id="377" r:id="rId5"/>
    <p:sldId id="318" r:id="rId6"/>
    <p:sldId id="317" r:id="rId7"/>
    <p:sldId id="375" r:id="rId8"/>
    <p:sldId id="322" r:id="rId9"/>
    <p:sldId id="365" r:id="rId10"/>
    <p:sldId id="326" r:id="rId11"/>
    <p:sldId id="320" r:id="rId12"/>
    <p:sldId id="324" r:id="rId13"/>
    <p:sldId id="323" r:id="rId14"/>
    <p:sldId id="371" r:id="rId15"/>
    <p:sldId id="325" r:id="rId16"/>
    <p:sldId id="309" r:id="rId17"/>
    <p:sldId id="367" r:id="rId18"/>
    <p:sldId id="368" r:id="rId19"/>
    <p:sldId id="328" r:id="rId20"/>
    <p:sldId id="369" r:id="rId21"/>
    <p:sldId id="352" r:id="rId22"/>
    <p:sldId id="353" r:id="rId23"/>
    <p:sldId id="336" r:id="rId24"/>
    <p:sldId id="332" r:id="rId25"/>
    <p:sldId id="339" r:id="rId26"/>
    <p:sldId id="370" r:id="rId27"/>
    <p:sldId id="287" r:id="rId28"/>
    <p:sldId id="361" r:id="rId29"/>
    <p:sldId id="364" r:id="rId30"/>
    <p:sldId id="294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A7D6EE76-2EED-433F-9637-FA0455F98D15}" name="기본 구역">
          <p14:sldIdLst>
            <p14:sldId id="378"/>
            <p14:sldId id="315"/>
            <p14:sldId id="377"/>
            <p14:sldId id="318"/>
            <p14:sldId id="317"/>
            <p14:sldId id="375"/>
            <p14:sldId id="322"/>
            <p14:sldId id="365"/>
            <p14:sldId id="326"/>
            <p14:sldId id="320"/>
            <p14:sldId id="324"/>
            <p14:sldId id="323"/>
            <p14:sldId id="371"/>
            <p14:sldId id="325"/>
            <p14:sldId id="309"/>
            <p14:sldId id="367"/>
            <p14:sldId id="368"/>
            <p14:sldId id="328"/>
            <p14:sldId id="369"/>
          </p14:sldIdLst>
        </p14:section>
        <p14:section id="{079FB007-4044-4E60-AD09-4E9512A5438F}" name="설계단계">
          <p14:sldIdLst>
            <p14:sldId id="352"/>
            <p14:sldId id="353"/>
            <p14:sldId id="336"/>
            <p14:sldId id="332"/>
            <p14:sldId id="339"/>
            <p14:sldId id="370"/>
            <p14:sldId id="287"/>
            <p14:sldId id="361"/>
            <p14:sldId id="364"/>
            <p14:sldId id="294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TxStyle/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9927" autoAdjust="0"/>
    <p:restoredTop sz="94766" autoAdjust="0"/>
  </p:normalViewPr>
  <p:slideViewPr>
    <p:cSldViewPr>
      <p:cViewPr varScale="1">
        <p:scale>
          <a:sx n="100" d="100"/>
          <a:sy n="100" d="100"/>
        </p:scale>
        <p:origin x="72" y="36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46AA5D5A-343A-4C1A-BC9D-610EC8B80F49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Relationship Id="rId3" Type="http://schemas.openxmlformats.org/officeDocument/2006/relationships/image" Target="../media/image3.png"  /><Relationship Id="rId4" Type="http://schemas.openxmlformats.org/officeDocument/2006/relationships/image" Target="../media/image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8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openxmlformats.org/officeDocument/2006/relationships/image" Target="../media/image3.png"  /><Relationship Id="rId4" Type="http://schemas.openxmlformats.org/officeDocument/2006/relationships/image" Target="../media/image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24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25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26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Relationship Id="rId3" Type="http://schemas.openxmlformats.org/officeDocument/2006/relationships/image" Target="../media/image3.png"  /><Relationship Id="rId4" Type="http://schemas.openxmlformats.org/officeDocument/2006/relationships/image" Target="../media/image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3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32.png"  /><Relationship Id="rId5" Type="http://schemas.openxmlformats.org/officeDocument/2006/relationships/image" Target="../media/image33.png"  /><Relationship Id="rId6" Type="http://schemas.openxmlformats.org/officeDocument/2006/relationships/image" Target="../media/image34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2.png"  /><Relationship Id="rId4" Type="http://schemas.openxmlformats.org/officeDocument/2006/relationships/image" Target="../media/image35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350128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일반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616" y="3933056"/>
            <a:ext cx="72197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rgbClr val="77787B"/>
                </a:solidFill>
              </a:rPr>
              <a:t>프로젝트 명 </a:t>
            </a:r>
            <a:r>
              <a:rPr lang="en-US" altLang="ko-KR" b="1" spc="-150" dirty="0">
                <a:solidFill>
                  <a:srgbClr val="77787B"/>
                </a:solidFill>
              </a:rPr>
              <a:t>: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RAG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기반 캠퍼스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[S-</a:t>
            </a:r>
            <a:r>
              <a:rPr lang="en-US" altLang="ko-KR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MAUMe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2026. 07. 00</a:t>
            </a:r>
          </a:p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(S4)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61158"/>
              </p:ext>
            </p:extLst>
          </p:nvPr>
        </p:nvGraphicFramePr>
        <p:xfrm>
          <a:off x="1187625" y="1510757"/>
          <a:ext cx="7416822" cy="4565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06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단계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일반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소프트웨어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하드웨어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4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∙모바일 </a:t>
                      </a:r>
                      <a:r>
                        <a:rPr lang="en-US" sz="700" b="1" kern="0" spc="0" dirty="0">
                          <a:effectLst/>
                        </a:rPr>
                        <a:t>APP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∙Web </a:t>
                      </a:r>
                      <a:r>
                        <a:rPr lang="ko-KR" altLang="en-US" sz="700" b="1" kern="0" spc="0" dirty="0">
                          <a:effectLst/>
                        </a:rPr>
                        <a:t>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빅데이터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∙인공지능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∙블록체인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en-US" sz="700" b="1" kern="0" spc="0" dirty="0" err="1">
                          <a:effectLst/>
                        </a:rPr>
                        <a:t>IoT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>
                          <a:effectLst/>
                        </a:rPr>
                        <a:t>로봇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700" b="1" kern="0" spc="0" dirty="0">
                          <a:effectLst/>
                        </a:rPr>
                        <a:t>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시장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59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8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63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UI/UX </a:t>
                      </a:r>
                      <a:r>
                        <a:rPr lang="ko-KR" altLang="en-US" sz="8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59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8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기능 처리도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기능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핵심 소스코드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624" y="6453336"/>
            <a:ext cx="34563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700" b="1" i="0" u="none" strike="noStrike" kern="1200" cap="none" spc="0" normalizeH="0" baseline="0"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lang="ko-KR" altLang="en-US" sz="1700" b="1">
              <a:solidFill>
                <a:schemeClr val="bg1"/>
              </a:solidFill>
              <a:latin typeface="+mn-ea"/>
              <a:cs typeface="+mj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ko-KR" altLang="en-US" sz="1700" b="1">
              <a:solidFill>
                <a:schemeClr val="bg1"/>
              </a:solidFill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334B20-DDC3-CE57-4B9D-02AF7E5533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8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시장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기술 동향 분석</a:t>
            </a:r>
            <a:endParaRPr lang="ko-KR" altLang="en-US" sz="1700" spc="-5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EC2219F-33AF-397A-E05B-99F2DF943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96751"/>
            <a:ext cx="9144000" cy="56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설문조사 분석</a:t>
            </a:r>
            <a:endParaRPr kumimoji="0" lang="ko-KR" altLang="en-US" sz="1700" b="0" i="0" u="none" strike="noStrike" kern="1200" cap="none" spc="-50" normalizeH="0" baseline="0"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11987E-FEA9-E0E4-2878-73A305AD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인터뷰 결과서</a:t>
            </a:r>
            <a:endParaRPr kumimoji="0" lang="ko-KR" altLang="en-US" sz="1700" b="0" i="0" u="none" strike="noStrike" kern="1200" cap="none" spc="-50" normalizeH="0" baseline="0"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10DA88-101A-4225-F94B-263090EBF3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75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700" b="1" i="0" u="none" strike="noStrike" kern="1200" cap="none" spc="0" normalizeH="0" baseline="0"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9EEBD11-4006-3594-59BB-DFE0EC92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24744"/>
            <a:ext cx="9144000" cy="57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41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/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700" b="1" i="0" u="none" strike="noStrike" kern="1200" cap="none" spc="0" normalizeH="0" baseline="0"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A8DEEC-EDDD-D5BE-5FB2-FEBE84D6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/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유즈케이스 정의서</a:t>
            </a:r>
            <a:endParaRPr kumimoji="0" lang="ko-KR" altLang="en-US" sz="1700" b="0" i="0" u="none" strike="noStrike" kern="1200" cap="none" spc="-50" normalizeH="0" baseline="0"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62E413-BE7C-D6B2-00C8-783CC0EC24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116673"/>
            <a:ext cx="9144000" cy="57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05F760-5A43-8BEB-E2CD-64E1D6F25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id="{7ADB48A4-E2D1-87A1-7382-1F1A160B2A0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07C45-77E7-B1FF-4199-2C8181413B50}"/>
              </a:ext>
            </a:extLst>
          </p:cNvPr>
          <p:cNvSpPr txBox="1"/>
          <p:nvPr/>
        </p:nvSpPr>
        <p:spPr>
          <a:xfrm>
            <a:off x="4743523" y="2789961"/>
            <a:ext cx="39486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웹 기반 </a:t>
            </a:r>
            <a:r>
              <a:rPr lang="en-US" altLang="ko-KR" sz="1200" dirty="0"/>
              <a:t>AI </a:t>
            </a:r>
            <a:r>
              <a:rPr lang="ko-KR" altLang="en-US" sz="1200" dirty="0" err="1"/>
              <a:t>챗봇으로</a:t>
            </a:r>
            <a:r>
              <a:rPr lang="ko-KR" altLang="en-US" sz="1200" dirty="0"/>
              <a:t> 사용자가 별도의 프로그램 설치 없이 브라우저를 통해 이용할 수 있도록 설계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메인 화면은 홈</a:t>
            </a:r>
            <a:r>
              <a:rPr lang="en-US" altLang="ko-KR" sz="1200" dirty="0"/>
              <a:t>, </a:t>
            </a:r>
            <a:r>
              <a:rPr lang="ko-KR" altLang="en-US" sz="1200" dirty="0"/>
              <a:t>대화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캠퍼스맵</a:t>
            </a:r>
            <a:r>
              <a:rPr lang="en-US" altLang="ko-KR" sz="1200" dirty="0"/>
              <a:t>, </a:t>
            </a:r>
            <a:r>
              <a:rPr lang="ko-KR" altLang="en-US" sz="1200" dirty="0"/>
              <a:t>학사일정</a:t>
            </a:r>
            <a:r>
              <a:rPr lang="en-US" altLang="ko-KR" sz="1200" dirty="0"/>
              <a:t>, </a:t>
            </a:r>
            <a:r>
              <a:rPr lang="ko-KR" altLang="en-US" sz="1200" dirty="0"/>
              <a:t>학식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비교과</a:t>
            </a:r>
            <a:r>
              <a:rPr lang="en-US" altLang="ko-KR" sz="1200" dirty="0"/>
              <a:t>, </a:t>
            </a:r>
            <a:r>
              <a:rPr lang="ko-KR" altLang="en-US" sz="1200" dirty="0"/>
              <a:t>부서안내 등 주요 메뉴로 구성하였으며</a:t>
            </a:r>
            <a:r>
              <a:rPr lang="en-US" altLang="ko-KR" sz="1200" dirty="0"/>
              <a:t>, </a:t>
            </a:r>
            <a:r>
              <a:rPr lang="ko-KR" altLang="en-US" sz="1200" dirty="0"/>
              <a:t>사이드 메뉴를 통해 원하는 기능으로 빠르게 이동 가능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사용자는 자연어 </a:t>
            </a:r>
            <a:r>
              <a:rPr lang="ko-KR" altLang="en-US" sz="1200" dirty="0" err="1"/>
              <a:t>질의뿐만</a:t>
            </a:r>
            <a:r>
              <a:rPr lang="ko-KR" altLang="en-US" sz="1200" dirty="0"/>
              <a:t> 아니라 메뉴 기반 탐색도 가능하도록 하여 정보 접근성 향상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B940EA7-DB5A-09A4-BABA-8AB8EE751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88" t="2450" r="38188" b="3800"/>
          <a:stretch/>
        </p:blipFill>
        <p:spPr>
          <a:xfrm>
            <a:off x="1385252" y="1539779"/>
            <a:ext cx="1965667" cy="425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A7EFF7-9AFA-3C51-BE4D-F3C6434AF8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8F05C5-6525-7EAD-B7D5-13F706E72132}"/>
              </a:ext>
            </a:extLst>
          </p:cNvPr>
          <p:cNvSpPr txBox="1"/>
          <p:nvPr/>
        </p:nvSpPr>
        <p:spPr>
          <a:xfrm>
            <a:off x="5241666" y="2235963"/>
            <a:ext cx="29523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프론트엔드는</a:t>
            </a:r>
            <a:r>
              <a:rPr lang="ko-KR" altLang="en-US" sz="1200" dirty="0"/>
              <a:t> </a:t>
            </a:r>
            <a:r>
              <a:rPr lang="en-US" altLang="ko-KR" sz="1200" dirty="0"/>
              <a:t>React </a:t>
            </a:r>
            <a:r>
              <a:rPr lang="ko-KR" altLang="en-US" sz="1200" dirty="0"/>
              <a:t>기반으로 구현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백엔드는</a:t>
            </a:r>
            <a:r>
              <a:rPr lang="ko-KR" altLang="en-US" sz="1200" dirty="0"/>
              <a:t> </a:t>
            </a:r>
            <a:r>
              <a:rPr lang="en-US" altLang="ko-KR" sz="1200" dirty="0" err="1"/>
              <a:t>FastAPI</a:t>
            </a:r>
            <a:r>
              <a:rPr lang="ko-KR" altLang="en-US" sz="1200" dirty="0"/>
              <a:t>를 이용하여 </a:t>
            </a:r>
            <a:r>
              <a:rPr lang="en-US" altLang="ko-KR" sz="1200" dirty="0"/>
              <a:t>API</a:t>
            </a:r>
            <a:r>
              <a:rPr lang="ko-KR" altLang="en-US" sz="1200" dirty="0"/>
              <a:t>를 제공하도록 설계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사용자의 질문은 </a:t>
            </a:r>
            <a:r>
              <a:rPr lang="en-US" altLang="ko-KR" sz="1200" dirty="0" err="1"/>
              <a:t>LangGraph</a:t>
            </a:r>
            <a:r>
              <a:rPr lang="ko-KR" altLang="en-US" sz="1200" dirty="0"/>
              <a:t>를 통해 의도를 분석한 후 질문 유형에 따라 </a:t>
            </a:r>
            <a:r>
              <a:rPr lang="en-US" altLang="ko-KR" sz="1200" dirty="0"/>
              <a:t>Q&amp;A DB, Vector DB(</a:t>
            </a:r>
            <a:r>
              <a:rPr lang="en-US" altLang="ko-KR" sz="1200" dirty="0" err="1"/>
              <a:t>Qdrant</a:t>
            </a:r>
            <a:r>
              <a:rPr lang="en-US" altLang="ko-KR" sz="1200" dirty="0"/>
              <a:t>), Graph DB(Neo4j)</a:t>
            </a:r>
            <a:r>
              <a:rPr lang="ko-KR" altLang="en-US" sz="1200" dirty="0"/>
              <a:t> 중 선택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검색된 결과는 </a:t>
            </a:r>
            <a:r>
              <a:rPr lang="en-US" altLang="ko-KR" sz="1200" dirty="0" err="1"/>
              <a:t>LangChain</a:t>
            </a:r>
            <a:r>
              <a:rPr lang="en-US" altLang="ko-KR" sz="1200" dirty="0"/>
              <a:t> </a:t>
            </a:r>
            <a:r>
              <a:rPr lang="ko-KR" altLang="en-US" sz="1200" dirty="0"/>
              <a:t>기반 </a:t>
            </a:r>
            <a:r>
              <a:rPr lang="en-US" altLang="ko-KR" sz="1200" dirty="0"/>
              <a:t>Hybrid RAG </a:t>
            </a:r>
            <a:r>
              <a:rPr lang="ko-KR" altLang="en-US" sz="1200" dirty="0"/>
              <a:t>구조를 통해 </a:t>
            </a:r>
            <a:r>
              <a:rPr lang="en-US" altLang="ko-KR" sz="1200" dirty="0"/>
              <a:t>LLM</a:t>
            </a:r>
            <a:r>
              <a:rPr lang="ko-KR" altLang="en-US" sz="1200" dirty="0"/>
              <a:t>과 연계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최종적으로 자연어 답변을 생성하여 사용자 화면에 제공하도록 설계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DD2C246-8664-B741-DF40-82C8C414B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8" t="2301" r="28737" b="3801"/>
          <a:stretch/>
        </p:blipFill>
        <p:spPr>
          <a:xfrm>
            <a:off x="586490" y="1516432"/>
            <a:ext cx="3563192" cy="429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7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BF02A6-9C10-72D4-AC93-9BA89BC36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08DDFD-11C7-D836-7CB6-C113F6753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5" t="2097" r="28738" b="2665"/>
          <a:stretch/>
        </p:blipFill>
        <p:spPr>
          <a:xfrm>
            <a:off x="1175290" y="1540496"/>
            <a:ext cx="2385592" cy="4253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2B0D9-DA5F-C816-F250-E1E2CEC96C50}"/>
              </a:ext>
            </a:extLst>
          </p:cNvPr>
          <p:cNvSpPr txBox="1"/>
          <p:nvPr/>
        </p:nvSpPr>
        <p:spPr>
          <a:xfrm>
            <a:off x="4563582" y="1497299"/>
            <a:ext cx="430849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사용자가 웹 브라우저를 통해 서비스에 접속한 후 원하는 질문을 자연어 형태로 입력하면 시스템은 먼저 사용자의 질의를 수신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입력된 질문은 </a:t>
            </a:r>
            <a:r>
              <a:rPr lang="en-US" altLang="ko-KR" sz="1200" dirty="0"/>
              <a:t>AI Agent</a:t>
            </a:r>
            <a:r>
              <a:rPr lang="ko-KR" altLang="en-US" sz="1200" dirty="0"/>
              <a:t>를 통해 의도를 분석하고</a:t>
            </a:r>
            <a:r>
              <a:rPr lang="en-US" altLang="ko-KR" sz="1200" dirty="0"/>
              <a:t>, </a:t>
            </a:r>
            <a:r>
              <a:rPr lang="ko-KR" altLang="en-US" sz="1200" dirty="0"/>
              <a:t>질문의 유형을 학사정보</a:t>
            </a:r>
            <a:r>
              <a:rPr lang="en-US" altLang="ko-KR" sz="1200" dirty="0"/>
              <a:t>, </a:t>
            </a:r>
            <a:r>
              <a:rPr lang="ko-KR" altLang="en-US" sz="1200" dirty="0"/>
              <a:t>공지사항</a:t>
            </a:r>
            <a:r>
              <a:rPr lang="en-US" altLang="ko-KR" sz="1200" dirty="0"/>
              <a:t>, </a:t>
            </a:r>
            <a:r>
              <a:rPr lang="ko-KR" altLang="en-US" sz="1200" dirty="0"/>
              <a:t>장학금</a:t>
            </a:r>
            <a:r>
              <a:rPr lang="en-US" altLang="ko-KR" sz="1200" dirty="0"/>
              <a:t>, </a:t>
            </a:r>
            <a:r>
              <a:rPr lang="ko-KR" altLang="en-US" sz="1200" dirty="0"/>
              <a:t>학식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비교과</a:t>
            </a:r>
            <a:r>
              <a:rPr lang="ko-KR" altLang="en-US" sz="1200" dirty="0"/>
              <a:t> 프로그램</a:t>
            </a:r>
            <a:r>
              <a:rPr lang="en-US" altLang="ko-KR" sz="1200" dirty="0"/>
              <a:t>, </a:t>
            </a:r>
            <a:r>
              <a:rPr lang="ko-KR" altLang="en-US" sz="1200" dirty="0"/>
              <a:t>캠퍼스 위치 등으로 분류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질문의 특성에 따라 적합한 데이터베이스를 선택하여 필요한 정보를 검색하며</a:t>
            </a:r>
            <a:r>
              <a:rPr lang="en-US" altLang="ko-KR" sz="1200" dirty="0"/>
              <a:t>, </a:t>
            </a:r>
            <a:r>
              <a:rPr lang="ko-KR" altLang="en-US" sz="1200" dirty="0"/>
              <a:t>검색된 결과를 기반으로 </a:t>
            </a:r>
            <a:r>
              <a:rPr lang="en-US" altLang="ko-KR" sz="1200" dirty="0"/>
              <a:t>LLM</a:t>
            </a:r>
            <a:r>
              <a:rPr lang="ko-KR" altLang="en-US" sz="1200" dirty="0"/>
              <a:t>이 사용자가 이해하기 쉬운 자연어 형태의 답변을 생성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생성된 답변은 질문의 종류에 따라 일반 텍스트</a:t>
            </a:r>
            <a:r>
              <a:rPr lang="en-US" altLang="ko-KR" sz="1200" dirty="0"/>
              <a:t>, </a:t>
            </a:r>
            <a:r>
              <a:rPr lang="ko-KR" altLang="en-US" sz="1200" dirty="0"/>
              <a:t>카드형 </a:t>
            </a:r>
            <a:r>
              <a:rPr lang="en-US" altLang="ko-KR" sz="1200" dirty="0"/>
              <a:t>UI, </a:t>
            </a:r>
            <a:r>
              <a:rPr lang="ko-KR" altLang="en-US" sz="1200" dirty="0"/>
              <a:t>지도 기반 위치 안내 등 다양한 형태로 사용자 화면에 제공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사용자는 답변 이후에도 추가 질문을 입력하거나 빠른 메뉴를 이용하여 원하는 정보를 연속적으로 탐색할 수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이를 통해 여러 시스템에 분산되어 있는 대학 정보를 하나의 서비스에서 효율적으로 확인할 수 있도록 설계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사용자의 정보 탐색 과정을 단순화하고</a:t>
            </a:r>
            <a:r>
              <a:rPr lang="en-US" altLang="ko-KR" sz="1200" dirty="0"/>
              <a:t>, </a:t>
            </a:r>
            <a:r>
              <a:rPr lang="ko-KR" altLang="en-US" sz="1200" dirty="0"/>
              <a:t>필요한 정보를 빠르고 정확하게 제공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221048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5A7CEEB-8A69-18E1-3A72-AE23E5000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07" y="1934877"/>
            <a:ext cx="4686954" cy="408679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 dirty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76" name="Group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319545"/>
              </p:ext>
            </p:extLst>
          </p:nvPr>
        </p:nvGraphicFramePr>
        <p:xfrm>
          <a:off x="5796136" y="1934877"/>
          <a:ext cx="2772391" cy="4086794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0687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anchor="ctr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건물 배치도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주요 건물의 위치를 직관적으로 확인할 수 있도록 구성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4063" marB="36000" anchor="ctr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8032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anchor="ctr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시설 정보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itchFamily="50" charset="-127"/>
                      </a:endParaRPr>
                    </a:p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itchFamily="50" charset="-127"/>
                        </a:rPr>
                        <a:t>선택한 시설의 위치와 정보를 카드 형태로 제공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맑은 고딕" pitchFamily="50" charset="-127"/>
                      </a:endParaRPr>
                    </a:p>
                  </a:txBody>
                  <a:tcPr marL="36000" marR="36000" marT="44063" marB="36000" anchor="ctr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80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anchor="ctr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사이드 </a:t>
                      </a:r>
                      <a:r>
                        <a:rPr kumimoji="0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퀵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메뉴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itchFamily="50" charset="-127"/>
                      </a:endParaRPr>
                    </a:p>
                    <a:p>
                      <a:pPr marL="85725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itchFamily="50" charset="-127"/>
                        </a:rPr>
                        <a:t>다른 서비스 화면으로 빠르게 이동할 수 있도록 메뉴 배치</a:t>
                      </a:r>
                      <a:endParaRPr kumimoji="0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itchFamily="50" charset="-127"/>
                      </a:endParaRPr>
                    </a:p>
                  </a:txBody>
                  <a:tcPr marL="36000" marR="36000" marT="44063" marB="36000" anchor="ctr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3779912" y="3140968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sp>
        <p:nvSpPr>
          <p:cNvPr id="82" name="Oval 161"/>
          <p:cNvSpPr>
            <a:spLocks noChangeArrowheads="1"/>
          </p:cNvSpPr>
          <p:nvPr/>
        </p:nvSpPr>
        <p:spPr bwMode="auto">
          <a:xfrm>
            <a:off x="1531529" y="270892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3419872" y="4437112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 dirty="0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359606-F14A-DDEC-A185-BDD0EFB4D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5BED29-1500-8C34-8A3A-BD1048B1E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7082"/>
            <a:ext cx="9156826" cy="499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375A2A-DA98-9997-0E24-F0F1B6CF56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5067637-94C0-BBB4-CFA7-D85A53244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2856"/>
            <a:ext cx="9144000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879618"/>
              </p:ext>
            </p:extLst>
          </p:nvPr>
        </p:nvGraphicFramePr>
        <p:xfrm>
          <a:off x="539552" y="1340768"/>
          <a:ext cx="7992888" cy="496855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281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CHT-01-02</a:t>
                      </a:r>
                      <a:endParaRPr lang="en-US" altLang="ko-KR" sz="1200" kern="0" spc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대화 화면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/>
                        <a:t>챗봇과</a:t>
                      </a:r>
                      <a:r>
                        <a:rPr lang="ko-KR" altLang="en-US" sz="1200" dirty="0"/>
                        <a:t> 대화하며 교내 정보를 확인하는 화면임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빠른 메뉴를 통해 자주 사용하는 기능으로 이동할 수 있음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3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 </a:t>
                      </a: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질문 입력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하단 입력창에 사용자가 질문을 입력할 수 있음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답변 확인</a:t>
                      </a:r>
                      <a:endParaRPr lang="en-US" altLang="ko-KR" sz="1200" dirty="0"/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 질문에 대해 </a:t>
                      </a: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답변을 대화 형태로 확인할 수 있음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 </a:t>
                      </a:r>
                      <a:r>
                        <a:rPr lang="ko-KR" altLang="en-US" sz="1200" dirty="0"/>
                        <a:t>빠른 메뉴 이용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오늘의 학식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학사 일정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장학금 등 주요 기능을 빠르게 선택할 수 있음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대화 초기화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개인정보 </a:t>
                      </a:r>
                      <a:r>
                        <a:rPr lang="ko-KR" altLang="en-US" sz="1200" dirty="0" err="1"/>
                        <a:t>마스킹</a:t>
                      </a:r>
                      <a:r>
                        <a:rPr lang="ko-KR" altLang="en-US" sz="1200" dirty="0"/>
                        <a:t> 처리</a:t>
                      </a:r>
                      <a:r>
                        <a:rPr lang="en-US" altLang="ko-KR" sz="1200" dirty="0"/>
                        <a:t>, 24</a:t>
                      </a:r>
                      <a:r>
                        <a:rPr lang="ko-KR" altLang="en-US" sz="1200" dirty="0"/>
                        <a:t>시간 운영 안내 기능이 포함되어 있음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질문 응답 및 빠른 메뉴 제공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DE2E3A-E54B-F77B-D248-A0475892F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50" y="2204864"/>
            <a:ext cx="2037469" cy="31808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FF3D11B-6D60-020B-6CA2-EDF62B487E4D}"/>
              </a:ext>
            </a:extLst>
          </p:cNvPr>
          <p:cNvSpPr/>
          <p:nvPr/>
        </p:nvSpPr>
        <p:spPr>
          <a:xfrm>
            <a:off x="971600" y="2384896"/>
            <a:ext cx="36004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513877-5B94-CC95-29AC-6E99D376074A}"/>
              </a:ext>
            </a:extLst>
          </p:cNvPr>
          <p:cNvSpPr/>
          <p:nvPr/>
        </p:nvSpPr>
        <p:spPr>
          <a:xfrm>
            <a:off x="1583668" y="2780928"/>
            <a:ext cx="360040" cy="144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794171"/>
              </p:ext>
            </p:extLst>
          </p:nvPr>
        </p:nvGraphicFramePr>
        <p:xfrm>
          <a:off x="856404" y="1174183"/>
          <a:ext cx="7388004" cy="1894777"/>
        </p:xfrm>
        <a:graphic>
          <a:graphicData uri="http://schemas.openxmlformats.org/drawingml/2006/table">
            <a:tbl>
              <a:tblPr/>
              <a:tblGrid>
                <a:gridCol w="122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251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기능정보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대화 기능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사용자가 </a:t>
                      </a:r>
                      <a:r>
                        <a:rPr lang="ko-KR" altLang="en-US" sz="1200" dirty="0" err="1"/>
                        <a:t>챗봇과</a:t>
                      </a:r>
                      <a:r>
                        <a:rPr lang="ko-KR" altLang="en-US" sz="1200" dirty="0"/>
                        <a:t> 대화하며 교내 정보를 확인하는 기능임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65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처리내용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사용자가 입력창에 질문을 입력함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전송 버튼을 누르면 </a:t>
                      </a:r>
                      <a:r>
                        <a:rPr lang="ko-KR" altLang="en-US" sz="1200" dirty="0" err="1"/>
                        <a:t>챗봇이</a:t>
                      </a:r>
                      <a:r>
                        <a:rPr lang="ko-KR" altLang="en-US" sz="1200" dirty="0"/>
                        <a:t> 질문을 분석함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질문과 관련된 교내 정보를 답변 형태로 출력함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대화 내용은 채팅창에 순서대로 표시됨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빠른 메뉴를 선택하여 자주 사용하는 질문을 바로 실행할 수 있음</a:t>
                      </a:r>
                      <a:r>
                        <a:rPr lang="en-US" altLang="ko-KR" sz="1200" dirty="0"/>
                        <a:t>.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관련번호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CHT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-01-03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67906"/>
              </p:ext>
            </p:extLst>
          </p:nvPr>
        </p:nvGraphicFramePr>
        <p:xfrm>
          <a:off x="832544" y="3135874"/>
          <a:ext cx="7411864" cy="2021316"/>
        </p:xfrm>
        <a:graphic>
          <a:graphicData uri="http://schemas.openxmlformats.org/drawingml/2006/table">
            <a:tbl>
              <a:tblPr/>
              <a:tblGrid>
                <a:gridCol w="129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751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사용 예시 정보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04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사용자가 교내 정보에 대해 질문하면 </a:t>
                      </a:r>
                      <a:r>
                        <a:rPr lang="ko-KR" altLang="en-US" sz="1200" dirty="0" err="1"/>
                        <a:t>챗봇이</a:t>
                      </a:r>
                      <a:r>
                        <a:rPr lang="ko-KR" altLang="en-US" sz="1200" dirty="0"/>
                        <a:t> 답변을 제공하는 화면임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5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값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 질문 내용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전송 버튼 </a:t>
                      </a:r>
                      <a:r>
                        <a:rPr lang="ko-KR" altLang="en-US" sz="1200" dirty="0" err="1"/>
                        <a:t>선택값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빠른 메뉴 </a:t>
                      </a:r>
                      <a:r>
                        <a:rPr lang="ko-KR" altLang="en-US" sz="1200" dirty="0" err="1"/>
                        <a:t>선택값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대화 초기화 </a:t>
                      </a:r>
                      <a:r>
                        <a:rPr lang="ko-KR" altLang="en-US" sz="1200" dirty="0" err="1"/>
                        <a:t>선택값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언어 </a:t>
                      </a:r>
                      <a:r>
                        <a:rPr lang="ko-KR" altLang="en-US" sz="1200" dirty="0" err="1"/>
                        <a:t>설정값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192272"/>
              </p:ext>
            </p:extLst>
          </p:nvPr>
        </p:nvGraphicFramePr>
        <p:xfrm>
          <a:off x="835697" y="5229200"/>
          <a:ext cx="3736303" cy="1439418"/>
        </p:xfrm>
        <a:graphic>
          <a:graphicData uri="http://schemas.openxmlformats.org/drawingml/2006/table">
            <a:tbl>
              <a:tblPr/>
              <a:tblGrid>
                <a:gridCol w="78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696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입출력 데이터 항목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입출력</a:t>
                      </a:r>
                      <a:endParaRPr lang="en-US" altLang="ko-KR" sz="12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 질문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사용자가 입력창에 작성한 질문 내용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학식 정보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조식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중식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석식 시간별 메뉴 정보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75590"/>
              </p:ext>
            </p:extLst>
          </p:nvPr>
        </p:nvGraphicFramePr>
        <p:xfrm>
          <a:off x="4644008" y="5238078"/>
          <a:ext cx="3672408" cy="1272540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696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선행필수기능 및 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질문 입력 필요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질문을 입력해야 답변을 받을 수 있음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정보 검색 실패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해당 날짜의 학식 정보가 없을 경우 안내 메시지를 출력함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B80DFB-996C-734F-2FAC-35F8FD3954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98" y="3447943"/>
            <a:ext cx="1070461" cy="16676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220265E-C097-A21E-0833-F9F9B0CC7CDD}"/>
              </a:ext>
            </a:extLst>
          </p:cNvPr>
          <p:cNvSpPr/>
          <p:nvPr/>
        </p:nvSpPr>
        <p:spPr>
          <a:xfrm>
            <a:off x="1043608" y="3550446"/>
            <a:ext cx="25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557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7511D3-092B-0E5E-ADB8-4B746E2E6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제목 12">
            <a:extLst>
              <a:ext uri="{FF2B5EF4-FFF2-40B4-BE49-F238E27FC236}">
                <a16:creationId xmlns:a16="http://schemas.microsoft.com/office/drawing/2014/main" id="{F073248A-68DC-126C-08AC-5D561EF158D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C0804F-3727-0BAB-BE60-2DEF53E4D9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5"/>
          <a:stretch>
            <a:fillRect/>
          </a:stretch>
        </p:blipFill>
        <p:spPr>
          <a:xfrm>
            <a:off x="1456907" y="1470547"/>
            <a:ext cx="2828229" cy="23402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D06C5E-18D1-4D20-F5B3-43060A019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5480" y="1470547"/>
            <a:ext cx="2828928" cy="23402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5B7DB3F-CDD6-A499-228C-66A221CA7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191" y="4144912"/>
            <a:ext cx="2828777" cy="23407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3F142B-4903-04B7-E50A-E015B834CD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6561" y="4144911"/>
            <a:ext cx="2819145" cy="2340725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FA153C-B0B2-394C-D65F-71B924BBC298}"/>
              </a:ext>
            </a:extLst>
          </p:cNvPr>
          <p:cNvCxnSpPr>
            <a:cxnSpLocks/>
          </p:cNvCxnSpPr>
          <p:nvPr/>
        </p:nvCxnSpPr>
        <p:spPr>
          <a:xfrm>
            <a:off x="5146053" y="1772816"/>
            <a:ext cx="401960" cy="428903"/>
          </a:xfrm>
          <a:prstGeom prst="straightConnector1">
            <a:avLst/>
          </a:prstGeom>
          <a:ln w="47625">
            <a:solidFill>
              <a:srgbClr val="3B5A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6958371F-0768-FC8D-1455-8356145A84CC}"/>
              </a:ext>
            </a:extLst>
          </p:cNvPr>
          <p:cNvSpPr/>
          <p:nvPr/>
        </p:nvSpPr>
        <p:spPr>
          <a:xfrm>
            <a:off x="2119359" y="6144311"/>
            <a:ext cx="2164609" cy="283069"/>
          </a:xfrm>
          <a:prstGeom prst="flowChartProcess">
            <a:avLst/>
          </a:prstGeom>
          <a:noFill/>
          <a:ln w="47625">
            <a:solidFill>
              <a:srgbClr val="3B5A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6D1F4E5-D422-0678-F0B8-424F65708B82}"/>
              </a:ext>
            </a:extLst>
          </p:cNvPr>
          <p:cNvCxnSpPr>
            <a:cxnSpLocks/>
          </p:cNvCxnSpPr>
          <p:nvPr/>
        </p:nvCxnSpPr>
        <p:spPr>
          <a:xfrm flipH="1" flipV="1">
            <a:off x="2695424" y="6292649"/>
            <a:ext cx="396044" cy="350755"/>
          </a:xfrm>
          <a:prstGeom prst="straightConnector1">
            <a:avLst/>
          </a:prstGeom>
          <a:ln w="47625">
            <a:solidFill>
              <a:srgbClr val="3B5A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0DF8ECE4-B38F-98A4-4768-AE4B870E3514}"/>
              </a:ext>
            </a:extLst>
          </p:cNvPr>
          <p:cNvSpPr/>
          <p:nvPr/>
        </p:nvSpPr>
        <p:spPr>
          <a:xfrm>
            <a:off x="6175525" y="4509120"/>
            <a:ext cx="2140891" cy="1484470"/>
          </a:xfrm>
          <a:prstGeom prst="flowChartProcess">
            <a:avLst/>
          </a:prstGeom>
          <a:noFill/>
          <a:ln w="47625">
            <a:solidFill>
              <a:srgbClr val="3B5AA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5" name="타원 34" descr="1">
            <a:extLst>
              <a:ext uri="{FF2B5EF4-FFF2-40B4-BE49-F238E27FC236}">
                <a16:creationId xmlns:a16="http://schemas.microsoft.com/office/drawing/2014/main" id="{0577925C-6B20-0630-C241-926B508AD206}"/>
              </a:ext>
            </a:extLst>
          </p:cNvPr>
          <p:cNvSpPr/>
          <p:nvPr/>
        </p:nvSpPr>
        <p:spPr>
          <a:xfrm>
            <a:off x="785522" y="1478431"/>
            <a:ext cx="368248" cy="358874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</a:p>
        </p:txBody>
      </p:sp>
      <p:sp>
        <p:nvSpPr>
          <p:cNvPr id="36" name="타원 35" descr="1">
            <a:extLst>
              <a:ext uri="{FF2B5EF4-FFF2-40B4-BE49-F238E27FC236}">
                <a16:creationId xmlns:a16="http://schemas.microsoft.com/office/drawing/2014/main" id="{9A087C9E-C0E6-4599-1FCB-D8106AC1B9EB}"/>
              </a:ext>
            </a:extLst>
          </p:cNvPr>
          <p:cNvSpPr/>
          <p:nvPr/>
        </p:nvSpPr>
        <p:spPr>
          <a:xfrm>
            <a:off x="785522" y="4144912"/>
            <a:ext cx="368248" cy="358874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</a:p>
        </p:txBody>
      </p:sp>
      <p:sp>
        <p:nvSpPr>
          <p:cNvPr id="37" name="타원 36" descr="1">
            <a:extLst>
              <a:ext uri="{FF2B5EF4-FFF2-40B4-BE49-F238E27FC236}">
                <a16:creationId xmlns:a16="http://schemas.microsoft.com/office/drawing/2014/main" id="{2CF6C12A-7B1B-66BA-17BF-69AD408E8075}"/>
              </a:ext>
            </a:extLst>
          </p:cNvPr>
          <p:cNvSpPr/>
          <p:nvPr/>
        </p:nvSpPr>
        <p:spPr>
          <a:xfrm>
            <a:off x="4777805" y="4141357"/>
            <a:ext cx="368248" cy="358874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</a:t>
            </a:r>
          </a:p>
        </p:txBody>
      </p:sp>
      <p:sp>
        <p:nvSpPr>
          <p:cNvPr id="38" name="타원 37" descr="1">
            <a:extLst>
              <a:ext uri="{FF2B5EF4-FFF2-40B4-BE49-F238E27FC236}">
                <a16:creationId xmlns:a16="http://schemas.microsoft.com/office/drawing/2014/main" id="{1C3F2270-7DD4-7AC5-8037-AD05ECDCB279}"/>
              </a:ext>
            </a:extLst>
          </p:cNvPr>
          <p:cNvSpPr/>
          <p:nvPr/>
        </p:nvSpPr>
        <p:spPr>
          <a:xfrm>
            <a:off x="4729111" y="1470547"/>
            <a:ext cx="368248" cy="358874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AC2D72-9732-C8D0-A75E-F971D2DC8B7C}"/>
              </a:ext>
            </a:extLst>
          </p:cNvPr>
          <p:cNvSpPr/>
          <p:nvPr/>
        </p:nvSpPr>
        <p:spPr>
          <a:xfrm>
            <a:off x="1674002" y="1603718"/>
            <a:ext cx="324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26A9F6-0CED-CECC-9751-85A5763ACD8E}"/>
              </a:ext>
            </a:extLst>
          </p:cNvPr>
          <p:cNvSpPr/>
          <p:nvPr/>
        </p:nvSpPr>
        <p:spPr>
          <a:xfrm>
            <a:off x="2267744" y="1887037"/>
            <a:ext cx="583816" cy="12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C86E48-8810-7255-4BDB-48A204B96724}"/>
              </a:ext>
            </a:extLst>
          </p:cNvPr>
          <p:cNvSpPr/>
          <p:nvPr/>
        </p:nvSpPr>
        <p:spPr>
          <a:xfrm>
            <a:off x="2267030" y="1837305"/>
            <a:ext cx="504770" cy="497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AF0084-667C-5372-D479-588C25E03626}"/>
              </a:ext>
            </a:extLst>
          </p:cNvPr>
          <p:cNvSpPr/>
          <p:nvPr/>
        </p:nvSpPr>
        <p:spPr>
          <a:xfrm>
            <a:off x="5640192" y="1590797"/>
            <a:ext cx="324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0EB307-1C23-CC66-A87B-698DACF3D912}"/>
              </a:ext>
            </a:extLst>
          </p:cNvPr>
          <p:cNvSpPr/>
          <p:nvPr/>
        </p:nvSpPr>
        <p:spPr>
          <a:xfrm>
            <a:off x="6588223" y="1911580"/>
            <a:ext cx="310367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A54CB1-45CC-3556-0364-F2944EA5CD62}"/>
              </a:ext>
            </a:extLst>
          </p:cNvPr>
          <p:cNvSpPr/>
          <p:nvPr/>
        </p:nvSpPr>
        <p:spPr>
          <a:xfrm>
            <a:off x="2609800" y="4603544"/>
            <a:ext cx="324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3B926A-9C46-50B8-7490-774707A52002}"/>
              </a:ext>
            </a:extLst>
          </p:cNvPr>
          <p:cNvSpPr/>
          <p:nvPr/>
        </p:nvSpPr>
        <p:spPr>
          <a:xfrm>
            <a:off x="1674002" y="4269735"/>
            <a:ext cx="324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6918EF8-3E1E-1088-BBD5-FE7DD70E724A}"/>
              </a:ext>
            </a:extLst>
          </p:cNvPr>
          <p:cNvSpPr/>
          <p:nvPr/>
        </p:nvSpPr>
        <p:spPr>
          <a:xfrm>
            <a:off x="5652120" y="4269735"/>
            <a:ext cx="324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ED850E0-2560-7BFA-32A1-B6191A574D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72" y="2553072"/>
            <a:ext cx="8676456" cy="289215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4C07B84-20FB-1554-BAEC-41D511F2EA31}"/>
              </a:ext>
            </a:extLst>
          </p:cNvPr>
          <p:cNvSpPr/>
          <p:nvPr/>
        </p:nvSpPr>
        <p:spPr>
          <a:xfrm>
            <a:off x="377788" y="2184434"/>
            <a:ext cx="1601924" cy="440646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311E42-8094-1ED2-BF9F-D52B09934D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EA0CA6-99F3-AE92-FCD2-032FBB7ACF1D}"/>
              </a:ext>
            </a:extLst>
          </p:cNvPr>
          <p:cNvSpPr txBox="1"/>
          <p:nvPr/>
        </p:nvSpPr>
        <p:spPr>
          <a:xfrm>
            <a:off x="509084" y="2266257"/>
            <a:ext cx="1339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대화 서비스 </a:t>
            </a:r>
            <a:r>
              <a:rPr lang="en-US" altLang="ko-KR" sz="1200" dirty="0">
                <a:solidFill>
                  <a:schemeClr val="bg1"/>
                </a:solidFill>
              </a:rPr>
              <a:t>ERD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926765"/>
              </p:ext>
            </p:extLst>
          </p:nvPr>
        </p:nvGraphicFramePr>
        <p:xfrm>
          <a:off x="107504" y="2341200"/>
          <a:ext cx="8848773" cy="432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0453">
                <a:tc>
                  <a:txBody>
                    <a:bodyPr/>
                    <a:lstStyle/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" name="Text Box 62"/>
          <p:cNvSpPr txBox="1">
            <a:spLocks noChangeArrowheads="1"/>
          </p:cNvSpPr>
          <p:nvPr/>
        </p:nvSpPr>
        <p:spPr bwMode="auto">
          <a:xfrm>
            <a:off x="406169" y="2848899"/>
            <a:ext cx="3013704" cy="29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교내 정보 통합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AI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챗봇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기능 흐름도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</p:txBody>
      </p:sp>
      <p:sp>
        <p:nvSpPr>
          <p:cNvPr id="117" name="Text Box 59"/>
          <p:cNvSpPr txBox="1">
            <a:spLocks noChangeArrowheads="1"/>
          </p:cNvSpPr>
          <p:nvPr/>
        </p:nvSpPr>
        <p:spPr bwMode="auto">
          <a:xfrm>
            <a:off x="406169" y="5774500"/>
            <a:ext cx="4424609" cy="29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사용자가 질문을 입력하면 시스템이 질문 의도를 분석한다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9" name="Text Box 59"/>
          <p:cNvSpPr txBox="1">
            <a:spLocks noChangeArrowheads="1"/>
          </p:cNvSpPr>
          <p:nvPr/>
        </p:nvSpPr>
        <p:spPr bwMode="auto">
          <a:xfrm>
            <a:off x="416802" y="6011037"/>
            <a:ext cx="8189550" cy="29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질문 유형에 따라 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Q&amp;A DB, Vector DB, Graph DB,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일정 데이터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, RDB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중 적절한 지식원을 선택해 정보를 검색한다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785158"/>
              </p:ext>
            </p:extLst>
          </p:nvPr>
        </p:nvGraphicFramePr>
        <p:xfrm>
          <a:off x="107504" y="1268760"/>
          <a:ext cx="8865668" cy="848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35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7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9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dirty="0"/>
                        <a:t>SMAUME_CHATBOT_M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S-</a:t>
                      </a:r>
                      <a:r>
                        <a:rPr lang="en-US" altLang="ko-KR" sz="1200" dirty="0" err="1"/>
                        <a:t>MAUMe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통합 </a:t>
                      </a:r>
                      <a:r>
                        <a:rPr lang="ko-KR" altLang="en-US" sz="1200" dirty="0" err="1"/>
                        <a:t>챗봇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2026.  07 . 03.</a:t>
                      </a:r>
                      <a:endParaRPr lang="ko-KR" altLang="en-US" sz="12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2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1/1</a:t>
                      </a:r>
                      <a:endParaRPr lang="ko-KR" altLang="en-US" sz="12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4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교내에 분산된 학사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공지사항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장학금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강의실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건물 안내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자주 묻는 질문을 통합하여 사용자의 자연어 질문에 맞는 정보를 검색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분석하고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신뢰성 있는 답변을 제공하는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402410" y="1005722"/>
            <a:ext cx="1571084" cy="238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실무 산출물 형식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FED18E-A586-1B3B-5C6C-55B5407DD4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763860-B7F4-68D9-EABE-842A7C7BD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23"/>
          <a:stretch/>
        </p:blipFill>
        <p:spPr>
          <a:xfrm>
            <a:off x="882191" y="3110204"/>
            <a:ext cx="7185213" cy="2510329"/>
          </a:xfrm>
          <a:prstGeom prst="rect">
            <a:avLst/>
          </a:prstGeom>
        </p:spPr>
      </p:pic>
      <p:sp>
        <p:nvSpPr>
          <p:cNvPr id="6" name="Text Box 59">
            <a:extLst>
              <a:ext uri="{FF2B5EF4-FFF2-40B4-BE49-F238E27FC236}">
                <a16:creationId xmlns:a16="http://schemas.microsoft.com/office/drawing/2014/main" id="{501B6543-3799-C244-AA3E-4475A9BBB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234" y="6233276"/>
            <a:ext cx="7598555" cy="29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검색 결과를 통합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검증한 뒤 답변과 출처를 제공하고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0" dirty="0">
                <a:latin typeface="맑은 고딕" pitchFamily="50" charset="-127"/>
                <a:ea typeface="맑은 고딕" pitchFamily="50" charset="-127"/>
              </a:rPr>
              <a:t>정보가 부족한 경우 안내 후 대화 이력을 저장한다</a:t>
            </a:r>
            <a:r>
              <a:rPr lang="en-US" altLang="ko-KR" sz="1200" b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3488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처리도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흐름도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4C47B75-D605-D5F7-7A68-2F4EAD38A7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C4BAEFD-4B1A-EAD6-73C4-972D87251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34" y="1226229"/>
            <a:ext cx="7381332" cy="5536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6895420-45B4-4C19-6870-89A86A055990}"/>
              </a:ext>
            </a:extLst>
          </p:cNvPr>
          <p:cNvSpPr/>
          <p:nvPr/>
        </p:nvSpPr>
        <p:spPr>
          <a:xfrm>
            <a:off x="4594592" y="2456352"/>
            <a:ext cx="578872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5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CF900-DB56-7479-6240-C7C5FE5BD1F7}"/>
              </a:ext>
            </a:extLst>
          </p:cNvPr>
          <p:cNvSpPr txBox="1"/>
          <p:nvPr/>
        </p:nvSpPr>
        <p:spPr>
          <a:xfrm>
            <a:off x="4139952" y="2420888"/>
            <a:ext cx="1368152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650" dirty="0"/>
              <a:t>질의 의도 분석 및</a:t>
            </a:r>
            <a:endParaRPr lang="en-US" altLang="ko-KR" sz="650" dirty="0"/>
          </a:p>
          <a:p>
            <a:pPr algn="ctr"/>
            <a:r>
              <a:rPr lang="ko-KR" altLang="ko-KR" sz="650" dirty="0"/>
              <a:t>처리 경로 결정</a:t>
            </a:r>
            <a:endParaRPr lang="ko-KR" altLang="en-US" sz="650" dirty="0"/>
          </a:p>
        </p:txBody>
      </p:sp>
    </p:spTree>
    <p:extLst>
      <p:ext uri="{BB962C8B-B14F-4D97-AF65-F5344CB8AC3E}">
        <p14:creationId xmlns:p14="http://schemas.microsoft.com/office/powerpoint/2010/main" val="1961503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107504" y="1473901"/>
            <a:ext cx="4968552" cy="50167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5148064" y="1473900"/>
            <a:ext cx="3888432" cy="50167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734AFF-158A-07BF-BC18-52B3EA10F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D390C86-0ED1-510B-F7CD-6C942C59C8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3" t="5624"/>
          <a:stretch>
            <a:fillRect/>
          </a:stretch>
        </p:blipFill>
        <p:spPr>
          <a:xfrm>
            <a:off x="193922" y="2318798"/>
            <a:ext cx="4795716" cy="3326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25819A-6A3D-D413-73FB-77A064EA088C}"/>
              </a:ext>
            </a:extLst>
          </p:cNvPr>
          <p:cNvSpPr txBox="1"/>
          <p:nvPr/>
        </p:nvSpPr>
        <p:spPr>
          <a:xfrm>
            <a:off x="5107809" y="1499072"/>
            <a:ext cx="39689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000" dirty="0" err="1"/>
              <a:t>ㅇ</a:t>
            </a:r>
            <a:r>
              <a:rPr lang="ko-KR" altLang="ko-KR" sz="1000" dirty="0"/>
              <a:t> </a:t>
            </a:r>
            <a:r>
              <a:rPr lang="ko-KR" altLang="ko-KR" sz="1000" b="1" dirty="0"/>
              <a:t>알고리즘 시나리오</a:t>
            </a:r>
            <a:endParaRPr lang="en-US" altLang="ko-KR" sz="1000" b="1" dirty="0"/>
          </a:p>
          <a:p>
            <a:endParaRPr lang="ko-KR" altLang="ko-KR" sz="1000" dirty="0"/>
          </a:p>
          <a:p>
            <a:r>
              <a:rPr lang="en-US" altLang="ko-KR" sz="1000" b="1" dirty="0"/>
              <a:t>1)</a:t>
            </a:r>
            <a:r>
              <a:rPr lang="ko-KR" altLang="ko-KR" sz="1000" b="1" dirty="0"/>
              <a:t> </a:t>
            </a:r>
            <a:r>
              <a:rPr lang="ko-KR" altLang="ko-KR" sz="1000" dirty="0"/>
              <a:t>사용자가 교내 정보에 대한 질문을 입력하면 시스템이 질문을 수신한다.</a:t>
            </a:r>
          </a:p>
          <a:p>
            <a:r>
              <a:rPr lang="en-US" altLang="ko-KR" sz="1000" b="1" dirty="0"/>
              <a:t>2)</a:t>
            </a:r>
            <a:r>
              <a:rPr lang="ko-KR" altLang="ko-KR" sz="1000" b="1" dirty="0"/>
              <a:t> </a:t>
            </a:r>
            <a:r>
              <a:rPr lang="ko-KR" altLang="ko-KR" sz="1000" dirty="0"/>
              <a:t>입력된 질문에서 불필요한 공백, 특수문자 등을 정리하고 질문 내용을 </a:t>
            </a:r>
            <a:r>
              <a:rPr lang="ko-KR" altLang="ko-KR" sz="1000" dirty="0" err="1"/>
              <a:t>전처리한다</a:t>
            </a:r>
            <a:r>
              <a:rPr lang="ko-KR" altLang="ko-KR" sz="1000" dirty="0"/>
              <a:t>.</a:t>
            </a:r>
          </a:p>
          <a:p>
            <a:r>
              <a:rPr lang="en-US" altLang="ko-KR" sz="1000" b="1" dirty="0"/>
              <a:t>3)</a:t>
            </a:r>
            <a:r>
              <a:rPr lang="ko-KR" altLang="ko-KR" sz="1000" b="1" dirty="0"/>
              <a:t> </a:t>
            </a:r>
            <a:r>
              <a:rPr lang="ko-KR" altLang="ko-KR" sz="1000" dirty="0" err="1"/>
              <a:t>전처리된</a:t>
            </a:r>
            <a:r>
              <a:rPr lang="ko-KR" altLang="ko-KR" sz="1000" dirty="0"/>
              <a:t> 질문의 의도를 분석하여 학사, 시설, 식단, 버스, FAQ, 공지, 장학금, </a:t>
            </a:r>
            <a:r>
              <a:rPr lang="ko-KR" altLang="ko-KR" sz="1000" dirty="0" err="1"/>
              <a:t>비교과</a:t>
            </a:r>
            <a:r>
              <a:rPr lang="ko-KR" altLang="ko-KR" sz="1000" dirty="0"/>
              <a:t>, 선수과목, 건물, 부서 등 질문 유형을 분류한다.</a:t>
            </a:r>
          </a:p>
          <a:p>
            <a:r>
              <a:rPr lang="en-US" altLang="ko-KR" sz="1000" b="1" dirty="0"/>
              <a:t>4)</a:t>
            </a:r>
            <a:r>
              <a:rPr lang="ko-KR" altLang="ko-KR" sz="1000" b="1" dirty="0"/>
              <a:t> </a:t>
            </a:r>
            <a:r>
              <a:rPr lang="ko-KR" altLang="ko-KR" sz="1000" dirty="0"/>
              <a:t>질문이 FAQ 또는 정형 데이터 질의로 판단되면 RDB(</a:t>
            </a:r>
            <a:r>
              <a:rPr lang="ko-KR" altLang="ko-KR" sz="1000" dirty="0" err="1"/>
              <a:t>PostgreSQL</a:t>
            </a:r>
            <a:r>
              <a:rPr lang="ko-KR" altLang="ko-KR" sz="1000" dirty="0"/>
              <a:t>)를 조회한다. 이때 강의실, 편의시설, 식단, 버스, </a:t>
            </a:r>
            <a:r>
              <a:rPr lang="ko-KR" altLang="ko-KR" sz="1000" dirty="0" err="1"/>
              <a:t>FAQ와</a:t>
            </a:r>
            <a:r>
              <a:rPr lang="ko-KR" altLang="ko-KR" sz="1000" dirty="0"/>
              <a:t> 같은 구조화된 데이터를 검색한다.</a:t>
            </a:r>
          </a:p>
          <a:p>
            <a:r>
              <a:rPr lang="en-US" altLang="ko-KR" sz="1000" b="1" dirty="0"/>
              <a:t>5)</a:t>
            </a:r>
            <a:r>
              <a:rPr lang="ko-KR" altLang="ko-KR" sz="1000" b="1" dirty="0"/>
              <a:t> </a:t>
            </a:r>
            <a:r>
              <a:rPr lang="ko-KR" altLang="ko-KR" sz="1000" dirty="0"/>
              <a:t>FAQ/정형 데이터 질의가 아닌 경우, 비정형 문서 검색이 필요한 질문인지 판별한다.</a:t>
            </a:r>
          </a:p>
          <a:p>
            <a:r>
              <a:rPr lang="en-US" altLang="ko-KR" sz="1000" b="1" dirty="0"/>
              <a:t>6)</a:t>
            </a:r>
            <a:r>
              <a:rPr lang="ko-KR" altLang="ko-KR" sz="1000" b="1" dirty="0"/>
              <a:t> </a:t>
            </a:r>
            <a:r>
              <a:rPr lang="ko-KR" altLang="ko-KR" sz="1000" dirty="0"/>
              <a:t>공지사항, 학칙, 장학금, </a:t>
            </a:r>
            <a:r>
              <a:rPr lang="ko-KR" altLang="ko-KR" sz="1000" dirty="0" err="1"/>
              <a:t>비교과</a:t>
            </a:r>
            <a:r>
              <a:rPr lang="ko-KR" altLang="ko-KR" sz="1000" dirty="0"/>
              <a:t> 프로그램처럼 문서 내용 기반의 질문이면 </a:t>
            </a:r>
            <a:r>
              <a:rPr lang="ko-KR" altLang="ko-KR" sz="1000" dirty="0" err="1"/>
              <a:t>Vector</a:t>
            </a:r>
            <a:r>
              <a:rPr lang="ko-KR" altLang="ko-KR" sz="1000" dirty="0"/>
              <a:t> DB(</a:t>
            </a:r>
            <a:r>
              <a:rPr lang="ko-KR" altLang="ko-KR" sz="1000" dirty="0" err="1"/>
              <a:t>Qdrant</a:t>
            </a:r>
            <a:r>
              <a:rPr lang="ko-KR" altLang="ko-KR" sz="1000" dirty="0"/>
              <a:t>)에서 의미 검색을 수행한다.</a:t>
            </a:r>
          </a:p>
          <a:p>
            <a:r>
              <a:rPr lang="en-US" altLang="ko-KR" sz="1000" b="1" dirty="0"/>
              <a:t>7)</a:t>
            </a:r>
            <a:r>
              <a:rPr lang="ko-KR" altLang="ko-KR" sz="1000" b="1" dirty="0"/>
              <a:t> </a:t>
            </a:r>
            <a:r>
              <a:rPr lang="ko-KR" altLang="ko-KR" sz="1000" dirty="0"/>
              <a:t>비정형 문서 검색이 필요하지 않은 경우, 선수과목, 건물 연결 구조, 부서 관계처럼 관계 기반 질의로 판단하여 </a:t>
            </a:r>
            <a:r>
              <a:rPr lang="ko-KR" altLang="ko-KR" sz="1000" dirty="0" err="1"/>
              <a:t>Graph</a:t>
            </a:r>
            <a:r>
              <a:rPr lang="ko-KR" altLang="ko-KR" sz="1000" dirty="0"/>
              <a:t> DB(Neo4j)를 조회한다.</a:t>
            </a:r>
          </a:p>
          <a:p>
            <a:r>
              <a:rPr lang="en-US" altLang="ko-KR" sz="1000" b="1" dirty="0"/>
              <a:t>8)</a:t>
            </a:r>
            <a:r>
              <a:rPr lang="ko-KR" altLang="ko-KR" sz="1000" b="1" dirty="0"/>
              <a:t> </a:t>
            </a:r>
            <a:r>
              <a:rPr lang="ko-KR" altLang="ko-KR" sz="1000" dirty="0"/>
              <a:t>RDB, </a:t>
            </a:r>
            <a:r>
              <a:rPr lang="ko-KR" altLang="ko-KR" sz="1000" dirty="0" err="1"/>
              <a:t>Vector</a:t>
            </a:r>
            <a:r>
              <a:rPr lang="ko-KR" altLang="ko-KR" sz="1000" dirty="0"/>
              <a:t> DB, </a:t>
            </a:r>
            <a:r>
              <a:rPr lang="ko-KR" altLang="ko-KR" sz="1000" dirty="0" err="1"/>
              <a:t>Graph</a:t>
            </a:r>
            <a:r>
              <a:rPr lang="ko-KR" altLang="ko-KR" sz="1000" dirty="0"/>
              <a:t> </a:t>
            </a:r>
            <a:r>
              <a:rPr lang="ko-KR" altLang="ko-KR" sz="1000" dirty="0" err="1"/>
              <a:t>DB에서</a:t>
            </a:r>
            <a:r>
              <a:rPr lang="ko-KR" altLang="ko-KR" sz="1000" dirty="0"/>
              <a:t> 검색된 결과를 하나로 통합하여 답변 생성에 사용할 자료를 정리한다.</a:t>
            </a:r>
          </a:p>
          <a:p>
            <a:r>
              <a:rPr lang="en-US" altLang="ko-KR" sz="1000" b="1" dirty="0"/>
              <a:t>9)</a:t>
            </a:r>
            <a:r>
              <a:rPr lang="ko-KR" altLang="ko-KR" sz="1000" b="1" dirty="0"/>
              <a:t> </a:t>
            </a:r>
            <a:r>
              <a:rPr lang="ko-KR" altLang="ko-KR" sz="1000" dirty="0"/>
              <a:t>통합된 검색 결과를 바탕으로 </a:t>
            </a:r>
            <a:r>
              <a:rPr lang="ko-KR" altLang="ko-KR" sz="1000" dirty="0" err="1"/>
              <a:t>OpenAI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API를</a:t>
            </a:r>
            <a:r>
              <a:rPr lang="ko-KR" altLang="ko-KR" sz="1000" dirty="0"/>
              <a:t> 호출하여 사용자 질문에 맞는 자연어 답변을 생성한다.</a:t>
            </a:r>
          </a:p>
          <a:p>
            <a:r>
              <a:rPr lang="en-US" altLang="ko-KR" sz="1000" b="1" dirty="0"/>
              <a:t>10)</a:t>
            </a:r>
            <a:r>
              <a:rPr lang="ko-KR" altLang="ko-KR" sz="1000" b="1" dirty="0"/>
              <a:t> </a:t>
            </a:r>
            <a:r>
              <a:rPr lang="ko-KR" altLang="ko-KR" sz="1000" dirty="0"/>
              <a:t>생성된 답변에 사용된 검색 결과와 출처가 충분한지 확인한다. 검색 결과가 부족하거나 출처가 명확하지 않으면 신뢰도가 낮은 답변으로 판단한다.</a:t>
            </a:r>
          </a:p>
          <a:p>
            <a:r>
              <a:rPr lang="en-US" altLang="ko-KR" sz="1000" b="1" dirty="0"/>
              <a:t>11)</a:t>
            </a:r>
            <a:r>
              <a:rPr lang="ko-KR" altLang="ko-KR" sz="1000" b="1" dirty="0"/>
              <a:t> </a:t>
            </a:r>
            <a:r>
              <a:rPr lang="ko-KR" altLang="ko-KR" sz="1000" dirty="0"/>
              <a:t>검색 결과와 출처가 충분한 경우, 답변 내용을 검증하고 사용자가 확인할 수 있도록 출처 정보를 정리한다.</a:t>
            </a:r>
          </a:p>
          <a:p>
            <a:r>
              <a:rPr lang="en-US" altLang="ko-KR" sz="1000" b="1" dirty="0"/>
              <a:t>12)</a:t>
            </a:r>
            <a:r>
              <a:rPr lang="ko-KR" altLang="ko-KR" sz="1000" b="1" dirty="0"/>
              <a:t> </a:t>
            </a:r>
            <a:r>
              <a:rPr lang="ko-KR" altLang="ko-KR" sz="1000" dirty="0"/>
              <a:t>검증된 내용을 바탕으로 최종 답변을 사용자에게 반환한다.</a:t>
            </a:r>
          </a:p>
          <a:p>
            <a:r>
              <a:rPr lang="en-US" altLang="ko-KR" sz="1000" b="1" dirty="0"/>
              <a:t>13)</a:t>
            </a:r>
            <a:r>
              <a:rPr lang="ko-KR" altLang="ko-KR" sz="1000" b="1" dirty="0"/>
              <a:t> </a:t>
            </a:r>
            <a:r>
              <a:rPr lang="ko-KR" altLang="ko-KR" sz="1000" dirty="0"/>
              <a:t>검색 결과나 출처가 부족한 경우에는 임의로 답변하지 않고, 정보가 부족하다는 안내와 함께 추가 질문을 유도한다. 최종적으로 안내 답변을 사용자에게 표시한다.</a:t>
            </a:r>
          </a:p>
        </p:txBody>
      </p:sp>
    </p:spTree>
    <p:extLst>
      <p:ext uri="{BB962C8B-B14F-4D97-AF65-F5344CB8AC3E}">
        <p14:creationId xmlns:p14="http://schemas.microsoft.com/office/powerpoint/2010/main" val="356934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16BF9BC-A594-0307-FA1C-3E91C726B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27" t="4577" r="778" b="18606"/>
          <a:stretch>
            <a:fillRect/>
          </a:stretch>
        </p:blipFill>
        <p:spPr>
          <a:xfrm>
            <a:off x="5210214" y="3264180"/>
            <a:ext cx="3693722" cy="1555200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5" y="1473902"/>
            <a:ext cx="8740117" cy="15507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234302" y="3127832"/>
            <a:ext cx="8728070" cy="30592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F3FF9E-7C11-B11B-299D-5AF7C76BA4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5A7279-A56E-DCBC-55AE-CCB923A9FEC5}"/>
              </a:ext>
            </a:extLst>
          </p:cNvPr>
          <p:cNvSpPr txBox="1"/>
          <p:nvPr/>
        </p:nvSpPr>
        <p:spPr>
          <a:xfrm>
            <a:off x="409946" y="1577040"/>
            <a:ext cx="83241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ㅇ</a:t>
            </a:r>
            <a:r>
              <a:rPr lang="ko-KR" altLang="ko-KR" sz="1200" dirty="0"/>
              <a:t> </a:t>
            </a:r>
            <a:r>
              <a:rPr lang="ko-KR" altLang="ko-KR" sz="1200" b="1" dirty="0" err="1"/>
              <a:t>Hybrid</a:t>
            </a:r>
            <a:r>
              <a:rPr lang="ko-KR" altLang="ko-KR" sz="1200" b="1" dirty="0"/>
              <a:t> RAG 기반 교내 정보 질의 처리 알고리즘</a:t>
            </a:r>
            <a:endParaRPr lang="ko-KR" altLang="ko-KR" sz="1200" dirty="0"/>
          </a:p>
          <a:p>
            <a:r>
              <a:rPr lang="ko-KR" altLang="ko-KR" sz="1200" dirty="0" err="1"/>
              <a:t>Hybrid</a:t>
            </a:r>
            <a:r>
              <a:rPr lang="ko-KR" altLang="ko-KR" sz="1200" dirty="0"/>
              <a:t> RAG 기반 교내 정보 질의 처리 알고리즘은 사용자의 질문 의도를 분석한 뒤, 질문 유형에 맞는 데이터베이스를 선택하여 검색하는 알고리즘이다. FAQ, 강의실, 편의시설, 식단, 버스처럼 정형화된 정보는 RDB(</a:t>
            </a:r>
            <a:r>
              <a:rPr lang="ko-KR" altLang="ko-KR" sz="1200" dirty="0" err="1"/>
              <a:t>PostgreSQL</a:t>
            </a:r>
            <a:r>
              <a:rPr lang="ko-KR" altLang="ko-KR" sz="1200" dirty="0"/>
              <a:t>)에서 조회하고, 공지사항, 학칙, 장학금, 비교과처럼 문서 기반 정보는 </a:t>
            </a:r>
            <a:r>
              <a:rPr lang="ko-KR" altLang="ko-KR" sz="1200" dirty="0" err="1"/>
              <a:t>Vector</a:t>
            </a:r>
            <a:r>
              <a:rPr lang="ko-KR" altLang="ko-KR" sz="1200" dirty="0"/>
              <a:t> DB(</a:t>
            </a:r>
            <a:r>
              <a:rPr lang="ko-KR" altLang="ko-KR" sz="1200" dirty="0" err="1"/>
              <a:t>Qdrant</a:t>
            </a:r>
            <a:r>
              <a:rPr lang="ko-KR" altLang="ko-KR" sz="1200" dirty="0"/>
              <a:t>)에서 의미 검색을 수행한다. 또한 선수과목, 건물, 부서처럼 관계 파악이 필요한 질문은 </a:t>
            </a:r>
            <a:r>
              <a:rPr lang="ko-KR" altLang="ko-KR" sz="1200" dirty="0" err="1"/>
              <a:t>Graph</a:t>
            </a:r>
            <a:r>
              <a:rPr lang="ko-KR" altLang="ko-KR" sz="1200" dirty="0"/>
              <a:t> DB(Neo4j)를 활용하여 관계 정보를 조회한다. 이후 검색 결과를 통합하고 </a:t>
            </a:r>
            <a:r>
              <a:rPr lang="ko-KR" altLang="ko-KR" sz="1200" dirty="0" err="1"/>
              <a:t>OpenAI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API를</a:t>
            </a:r>
            <a:r>
              <a:rPr lang="ko-KR" altLang="ko-KR" sz="1200" dirty="0"/>
              <a:t> 통해 자연어 답변을 생성한다. 검색 결과와 출처가 충분한 경우 최종 답변을 제공하며, 부족한 경우에는 임의로 답변하지 않고 정보 부족 안내와 추가 질문을 유도한다.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B42169-4747-8689-0AE0-9AF71405E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 t="2180" r="66458" b="39079"/>
          <a:stretch>
            <a:fillRect/>
          </a:stretch>
        </p:blipFill>
        <p:spPr>
          <a:xfrm>
            <a:off x="383051" y="3251433"/>
            <a:ext cx="3972925" cy="12288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D78451-BE2F-2314-3155-A4C1A6F34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49" t="4447" r="33039" b="18737"/>
          <a:stretch>
            <a:fillRect/>
          </a:stretch>
        </p:blipFill>
        <p:spPr>
          <a:xfrm>
            <a:off x="2058947" y="4556867"/>
            <a:ext cx="3749680" cy="15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60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–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052307-33C6-8A6E-99FA-D8F564BAD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FD4C3FB-D965-AC15-FC43-F0EB9D059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35133"/>
              </p:ext>
            </p:extLst>
          </p:nvPr>
        </p:nvGraphicFramePr>
        <p:xfrm>
          <a:off x="1102956" y="1276244"/>
          <a:ext cx="6938087" cy="5370279"/>
        </p:xfrm>
        <a:graphic>
          <a:graphicData uri="http://schemas.openxmlformats.org/drawingml/2006/table">
            <a:tbl>
              <a:tblPr/>
              <a:tblGrid>
                <a:gridCol w="1001267">
                  <a:extLst>
                    <a:ext uri="{9D8B030D-6E8A-4147-A177-3AD203B41FA5}">
                      <a16:colId xmlns:a16="http://schemas.microsoft.com/office/drawing/2014/main" val="2955699030"/>
                    </a:ext>
                  </a:extLst>
                </a:gridCol>
                <a:gridCol w="1447005">
                  <a:extLst>
                    <a:ext uri="{9D8B030D-6E8A-4147-A177-3AD203B41FA5}">
                      <a16:colId xmlns:a16="http://schemas.microsoft.com/office/drawing/2014/main" val="20131052"/>
                    </a:ext>
                  </a:extLst>
                </a:gridCol>
                <a:gridCol w="4489815">
                  <a:extLst>
                    <a:ext uri="{9D8B030D-6E8A-4147-A177-3AD203B41FA5}">
                      <a16:colId xmlns:a16="http://schemas.microsoft.com/office/drawing/2014/main" val="2980219266"/>
                    </a:ext>
                  </a:extLst>
                </a:gridCol>
              </a:tblGrid>
              <a:tr h="3074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분류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기능번호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명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592222"/>
                  </a:ext>
                </a:extLst>
              </a:tr>
              <a:tr h="223659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CHT-01-01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/>
                        <a:t>챗봇</a:t>
                      </a:r>
                      <a:r>
                        <a:rPr lang="ko-KR" altLang="en-US" sz="1200" dirty="0"/>
                        <a:t> 메인 화면 진입 및 초기화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985228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CHT-01-02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자연어 질의 입력 및 전송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975113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-01-03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/>
                        <a:t>퀵메뉴</a:t>
                      </a:r>
                      <a:r>
                        <a:rPr lang="ko-KR" altLang="en-US" sz="1200" dirty="0"/>
                        <a:t> 선택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학식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캠퍼스맵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학사일정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장학금 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869643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CHT-02-01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err="1"/>
                        <a:t>LangGraph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기반 질문 의도 분석 및 분류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535491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CHT-02-02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대화 내역 개인정보 </a:t>
                      </a:r>
                      <a:r>
                        <a:rPr lang="ko-KR" altLang="en-US" sz="1200" dirty="0" err="1"/>
                        <a:t>마스킹</a:t>
                      </a:r>
                      <a:r>
                        <a:rPr lang="ko-KR" altLang="en-US" sz="1200" dirty="0"/>
                        <a:t> 처리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676359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CHT-02-03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검색 결과 없음 예외 처리 및 임의 답변 제한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769192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CHT-03-01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자연어 답변 생성 및 텍스트 출력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269027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CHT-03-02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안내 정보 카드형 </a:t>
                      </a: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시각화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488464"/>
                  </a:ext>
                </a:extLst>
              </a:tr>
              <a:tr h="22365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MAP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MAP-01-01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캠퍼스 위치 안내 화면 진입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714316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MAP-01-02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지도 기반 강의실 및 주요 건물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838955"/>
                  </a:ext>
                </a:extLst>
              </a:tr>
              <a:tr h="2236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MAP-01-03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편의시설 위치 및 이동 경로 시각화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933827"/>
                  </a:ext>
                </a:extLst>
              </a:tr>
              <a:tr h="307461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RAG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RAG-01-01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비정형 문서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학칙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공지사항 등</a:t>
                      </a:r>
                      <a:r>
                        <a:rPr lang="en-US" altLang="ko-KR" sz="1200" dirty="0"/>
                        <a:t>) Vector DB(</a:t>
                      </a:r>
                      <a:r>
                        <a:rPr lang="en-US" altLang="ko-KR" sz="1200" dirty="0" err="1"/>
                        <a:t>Qdrant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검색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213637"/>
                  </a:ext>
                </a:extLst>
              </a:tr>
              <a:tr h="3074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RAG-01-02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관계형 데이터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선수과목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조직도 등</a:t>
                      </a:r>
                      <a:r>
                        <a:rPr lang="en-US" altLang="ko-KR" sz="1200" dirty="0"/>
                        <a:t>) Graph DB(Neo4j) </a:t>
                      </a:r>
                      <a:r>
                        <a:rPr lang="ko-KR" altLang="en-US" sz="1200" dirty="0"/>
                        <a:t>탐색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85549"/>
                  </a:ext>
                </a:extLst>
              </a:tr>
              <a:tr h="3074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RAG-01-03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정형 데이터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식당 메뉴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시간표 등</a:t>
                      </a:r>
                      <a:r>
                        <a:rPr lang="en-US" altLang="ko-KR" sz="1200" dirty="0"/>
                        <a:t>) PostgreSQL </a:t>
                      </a:r>
                      <a:r>
                        <a:rPr lang="ko-KR" altLang="en-US" sz="1200" dirty="0"/>
                        <a:t>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7046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RAG-01-04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자주 묻는 질문 </a:t>
                      </a:r>
                      <a:r>
                        <a:rPr lang="en-US" altLang="ko-KR" sz="1200" dirty="0"/>
                        <a:t>(FAQ) Q&amp;A DB </a:t>
                      </a:r>
                      <a:r>
                        <a:rPr lang="ko-KR" altLang="en-US" sz="1200" dirty="0"/>
                        <a:t>즉각 라우팅 및 응답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624872"/>
                  </a:ext>
                </a:extLst>
              </a:tr>
              <a:tr h="12622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ADM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ADM-01-01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관리자 전용 데이터 등록 페이지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794437"/>
                  </a:ext>
                </a:extLst>
              </a:tr>
              <a:tr h="1262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ADM-01-02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교내 데이터 수기 입력 및 </a:t>
                      </a:r>
                      <a:r>
                        <a:rPr lang="en-US" altLang="ko-KR" sz="1200" dirty="0"/>
                        <a:t>PDF </a:t>
                      </a:r>
                      <a:r>
                        <a:rPr lang="ko-KR" altLang="en-US" sz="1200" dirty="0"/>
                        <a:t>파일 업로드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46665"/>
                  </a:ext>
                </a:extLst>
              </a:tr>
              <a:tr h="1262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ADM-01-03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업로드 데이터 </a:t>
                      </a:r>
                      <a:r>
                        <a:rPr lang="ko-KR" altLang="en-US" sz="1200" dirty="0" err="1"/>
                        <a:t>전처리</a:t>
                      </a:r>
                      <a:r>
                        <a:rPr lang="ko-KR" altLang="en-US" sz="1200" dirty="0"/>
                        <a:t> 및 </a:t>
                      </a:r>
                      <a:r>
                        <a:rPr lang="ko-KR" altLang="en-US" sz="1200" dirty="0" err="1"/>
                        <a:t>임베딩</a:t>
                      </a:r>
                      <a:r>
                        <a:rPr lang="ko-KR" altLang="en-US" sz="1200" dirty="0"/>
                        <a:t> 자동화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887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테이블 정의서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–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E1CCA4-B5BD-BA57-028C-1D5146B789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7DDFDD-ED54-2320-CE4E-1255DCEB4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38" y="1738274"/>
            <a:ext cx="3884733" cy="183474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88BFAB-2188-049C-B91D-00BF3C1DC33C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5" name="image13.png" title="이미지">
            <a:extLst>
              <a:ext uri="{FF2B5EF4-FFF2-40B4-BE49-F238E27FC236}">
                <a16:creationId xmlns:a16="http://schemas.microsoft.com/office/drawing/2014/main" id="{083F7ED0-563C-E612-ECB2-FBBFEC01AE80}"/>
              </a:ext>
            </a:extLst>
          </p:cNvPr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323528" y="1601682"/>
            <a:ext cx="4190388" cy="3915550"/>
          </a:xfrm>
          <a:prstGeom prst="rect">
            <a:avLst/>
          </a:prstGeom>
          <a:noFill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8202E4F-9AAC-E1D4-27A9-E9B93C9864B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95"/>
          <a:stretch/>
        </p:blipFill>
        <p:spPr>
          <a:xfrm>
            <a:off x="331664" y="1844824"/>
            <a:ext cx="4116234" cy="36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02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FA21BE-BF57-0869-9170-38A087961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910B01-1E07-E9DC-7787-C7BEF3126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96" y="1610088"/>
            <a:ext cx="8408590" cy="446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6CF3D6-54AD-664D-A74A-7B5AB1425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6D5C82B-F08C-5979-C8A7-6603E2930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63" y="2361084"/>
            <a:ext cx="2724057" cy="23751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DCF86C-ADB0-4D9E-E1AB-1B1A776FE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824" y="2361084"/>
            <a:ext cx="2584263" cy="23751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2171EF-301B-F9E5-3CC2-8CEC96DD1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552" y="2361084"/>
            <a:ext cx="2780680" cy="237516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ACCE112-2393-D95E-3FA7-553FF7853854}"/>
              </a:ext>
            </a:extLst>
          </p:cNvPr>
          <p:cNvSpPr/>
          <p:nvPr/>
        </p:nvSpPr>
        <p:spPr>
          <a:xfrm>
            <a:off x="611560" y="2564904"/>
            <a:ext cx="254436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D43277-1EFD-6971-28C4-23F7701C2CBF}"/>
              </a:ext>
            </a:extLst>
          </p:cNvPr>
          <p:cNvSpPr/>
          <p:nvPr/>
        </p:nvSpPr>
        <p:spPr>
          <a:xfrm>
            <a:off x="1115616" y="2780928"/>
            <a:ext cx="504056" cy="12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4122CC-9F05-9E04-2F19-5E187DE737EA}"/>
              </a:ext>
            </a:extLst>
          </p:cNvPr>
          <p:cNvSpPr/>
          <p:nvPr/>
        </p:nvSpPr>
        <p:spPr>
          <a:xfrm>
            <a:off x="1115616" y="2744928"/>
            <a:ext cx="432048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5F036C-4C58-E05F-9A00-A5A9F402A909}"/>
              </a:ext>
            </a:extLst>
          </p:cNvPr>
          <p:cNvSpPr/>
          <p:nvPr/>
        </p:nvSpPr>
        <p:spPr>
          <a:xfrm>
            <a:off x="3612721" y="2672928"/>
            <a:ext cx="254436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69A1FF-A8A0-3AA9-2A64-6FB3FA52A528}"/>
              </a:ext>
            </a:extLst>
          </p:cNvPr>
          <p:cNvSpPr/>
          <p:nvPr/>
        </p:nvSpPr>
        <p:spPr>
          <a:xfrm>
            <a:off x="4372774" y="2938020"/>
            <a:ext cx="199226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6D0B7D-EFC9-128F-423A-9281E7C67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32AA974-46B2-3D67-706F-587F5DAB3533}"/>
              </a:ext>
            </a:extLst>
          </p:cNvPr>
          <p:cNvSpPr/>
          <p:nvPr/>
        </p:nvSpPr>
        <p:spPr>
          <a:xfrm>
            <a:off x="366272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DCAB74-5D26-A4E0-34B6-CCF6B8A4A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12" y="1924909"/>
            <a:ext cx="8028384" cy="35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1600" y="6502764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B488D3-AF34-7CBE-A60C-C2CAAAD8CA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1559</ep:Words>
  <ep:PresentationFormat>화면 슬라이드 쇼(4:3)</ep:PresentationFormat>
  <ep:Paragraphs>330</ep:Paragraphs>
  <ep:Slides>29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Office 테마</vt:lpstr>
      <vt:lpstr>PowerPoint 프레젠테이션</vt:lpstr>
      <vt:lpstr>PowerPoint 프레젠테이션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2014-04-16T00:55:54.000</dcterms:created>
  <dc:creator>이낙선</dc:creator>
  <cp:lastModifiedBy>dudwn</cp:lastModifiedBy>
  <dcterms:modified xsi:type="dcterms:W3CDTF">2026-07-13T00:02:00.622</dcterms:modified>
  <cp:revision>288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